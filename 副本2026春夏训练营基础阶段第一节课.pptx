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85" r:id="rId6"/>
    <p:sldId id="259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9"/>
    <p:sldId id="274" r:id="rId20"/>
    <p:sldId id="275" r:id="rId21"/>
    <p:sldId id="277" r:id="rId22"/>
    <p:sldId id="276" r:id="rId23"/>
    <p:sldId id="273" r:id="rId24"/>
    <p:sldId id="278" r:id="rId25"/>
    <p:sldId id="280" r:id="rId26"/>
    <p:sldId id="281" r:id="rId27"/>
    <p:sldId id="283" r:id="rId28"/>
    <p:sldId id="284" r:id="rId29"/>
    <p:sldId id="27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9"/>
    <p:restoredTop sz="94668"/>
  </p:normalViewPr>
  <p:slideViewPr>
    <p:cSldViewPr snapToGrid="0">
      <p:cViewPr varScale="1">
        <p:scale>
          <a:sx n="119" d="100"/>
          <a:sy n="119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26FCE-EDD9-B441-907F-B53DD6064E6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BC5F8-49D1-424A-87F3-8451703FCB4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B9A00-5059-FA4C-8C89-6C690611473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1AA4A-9724-3C49-898C-F442A26B66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cnb.cool/LearningOS/OSCamp-2026S/oscamp-base-experiment#quick-start" TargetMode="External"/><Relationship Id="rId3" Type="http://schemas.openxmlformats.org/officeDocument/2006/relationships/hyperlink" Target="https://classroom.github.com/a/EfPsBczk" TargetMode="External"/><Relationship Id="rId2" Type="http://schemas.openxmlformats.org/officeDocument/2006/relationships/hyperlink" Target="https://cnb.cool/LearningOS/OSCamp-2026S/Rustlings" TargetMode="External"/><Relationship Id="rId1" Type="http://schemas.openxmlformats.org/officeDocument/2006/relationships/hyperlink" Target="https://classroom.github.com/a/z-VXwz6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mb.sy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17722" y="2967335"/>
            <a:ext cx="9956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年春夏学期操作系统训练营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4752" y="3890665"/>
            <a:ext cx="330250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第一节课 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Rust</a:t>
            </a:r>
            <a:r>
              <a:rPr lang="zh-CN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并发编程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38471" y="4352330"/>
            <a:ext cx="23150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朱懿 </a:t>
            </a:r>
            <a:r>
              <a:rPr lang="en-US" altLang="zh-CN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2026.03.05</a:t>
            </a:r>
            <a:endParaRPr lang="zh-CN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29508" y="1371601"/>
            <a:ext cx="44664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dirty="0"/>
              <a:t>目录</a:t>
            </a:r>
            <a:endParaRPr kumimoji="1" lang="en-US" altLang="zh-CN" sz="4400" dirty="0"/>
          </a:p>
          <a:p>
            <a:endParaRPr kumimoji="1"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基础阶段任务介绍</a:t>
            </a:r>
            <a:endParaRPr kumimoji="1" lang="en-US" altLang="zh-CN" sz="32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的概述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1000" y="281354"/>
            <a:ext cx="4466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基础阶段任务介绍</a:t>
            </a:r>
            <a:endParaRPr kumimoji="1" lang="en-US" altLang="zh-CN" sz="3200" dirty="0"/>
          </a:p>
        </p:txBody>
      </p:sp>
      <p:cxnSp>
        <p:nvCxnSpPr>
          <p:cNvPr id="3" name="直线连接符 2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32733" y="1581374"/>
            <a:ext cx="1046719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en-US" altLang="zh-CN" sz="2800" dirty="0"/>
              <a:t>Rustlings</a:t>
            </a:r>
            <a:r>
              <a:rPr kumimoji="1" lang="zh-CN" altLang="en-US" sz="2800" dirty="0"/>
              <a:t>：</a:t>
            </a:r>
            <a:endParaRPr kumimoji="1" lang="en-US" altLang="zh-CN" sz="2800" dirty="0"/>
          </a:p>
          <a:p>
            <a:r>
              <a:rPr kumimoji="1" lang="en-US" altLang="zh-CN" sz="2800" dirty="0" err="1"/>
              <a:t>Github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classroom</a:t>
            </a:r>
            <a:r>
              <a:rPr kumimoji="1" lang="zh-CN" altLang="en-US" sz="2800" dirty="0"/>
              <a:t>：</a:t>
            </a:r>
            <a:r>
              <a:rPr lang="en-GB" altLang="zh-CN" sz="2800" dirty="0">
                <a:hlinkClick r:id="rId1"/>
              </a:rPr>
              <a:t>https://classroom.github.com/a/z-VXwz6s</a:t>
            </a:r>
            <a:endParaRPr kumimoji="1" lang="en-US" altLang="zh-CN" sz="2800" dirty="0"/>
          </a:p>
          <a:p>
            <a:r>
              <a:rPr kumimoji="1" lang="en-US" altLang="zh-CN" sz="2800" dirty="0" err="1"/>
              <a:t>Cnb</a:t>
            </a:r>
            <a:r>
              <a:rPr kumimoji="1" lang="zh-CN" altLang="en-US" sz="2800" dirty="0"/>
              <a:t>：</a:t>
            </a:r>
            <a:r>
              <a:rPr kumimoji="1" lang="en-GB" altLang="zh-CN" sz="2800" dirty="0">
                <a:hlinkClick r:id="rId2"/>
              </a:rPr>
              <a:t>https://cnb.cool/LearningOS/OSCamp-2026S/Rustlings</a:t>
            </a:r>
            <a:endParaRPr kumimoji="1" lang="en-US" altLang="zh-CN" sz="2800" dirty="0"/>
          </a:p>
          <a:p>
            <a:endParaRPr kumimoji="1" lang="en-US" altLang="zh-CN" sz="28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zh-CN" altLang="en-US" sz="2800" dirty="0"/>
              <a:t>基础阶段实验：</a:t>
            </a:r>
            <a:endParaRPr kumimoji="1" lang="en-US" altLang="zh-CN" sz="2800" dirty="0"/>
          </a:p>
          <a:p>
            <a:r>
              <a:rPr kumimoji="1" lang="en-US" altLang="zh-CN" sz="2800" dirty="0" err="1"/>
              <a:t>Github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classroom</a:t>
            </a:r>
            <a:r>
              <a:rPr kumimoji="1" lang="zh-CN" altLang="en-US" sz="2800" dirty="0"/>
              <a:t>：</a:t>
            </a:r>
            <a:r>
              <a:rPr lang="en-GB" altLang="zh-CN" sz="2800" dirty="0">
                <a:hlinkClick r:id="rId3"/>
              </a:rPr>
              <a:t>https://classroom.github.com/a/EfPsBczk</a:t>
            </a:r>
            <a:endParaRPr kumimoji="1" lang="en-US" altLang="zh-CN" sz="2800" dirty="0"/>
          </a:p>
          <a:p>
            <a:r>
              <a:rPr kumimoji="1" lang="en-US" altLang="zh-CN" sz="2800" dirty="0" err="1"/>
              <a:t>Cnb</a:t>
            </a:r>
            <a:r>
              <a:rPr kumimoji="1" lang="zh-CN" altLang="en-US" sz="2800" dirty="0"/>
              <a:t>：</a:t>
            </a:r>
            <a:r>
              <a:rPr kumimoji="1" lang="en-GB" altLang="zh-CN" sz="2800" dirty="0">
                <a:hlinkClick r:id="rId4"/>
              </a:rPr>
              <a:t>https://cnb.cool/LearningOS/OSCamp-2026S/oscamp-base-experiment#quick-start</a:t>
            </a:r>
            <a:endParaRPr kumimoji="1" lang="en-GB" altLang="zh-CN" sz="2800" dirty="0"/>
          </a:p>
          <a:p>
            <a:endParaRPr kumimoji="1"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1000" y="281354"/>
            <a:ext cx="4466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基础阶段任务介绍</a:t>
            </a:r>
            <a:endParaRPr kumimoji="1" lang="en-US" altLang="zh-CN" sz="3200" dirty="0"/>
          </a:p>
        </p:txBody>
      </p:sp>
      <p:cxnSp>
        <p:nvCxnSpPr>
          <p:cNvPr id="3" name="直线连接符 2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32733" y="1581374"/>
            <a:ext cx="1038113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本节课对应的内容：</a:t>
            </a:r>
            <a:endParaRPr kumimoji="1" lang="en-US" altLang="zh-CN" sz="3200" dirty="0"/>
          </a:p>
          <a:p>
            <a:r>
              <a:rPr kumimoji="1" lang="en-US" altLang="zh-CN" sz="3200" dirty="0"/>
              <a:t>OSCAMP-BASE-EXPERIMENT</a:t>
            </a:r>
            <a:r>
              <a:rPr kumimoji="1" lang="zh-CN" altLang="en-US" sz="3200" dirty="0"/>
              <a:t>里面</a:t>
            </a:r>
            <a:r>
              <a:rPr kumimoji="1" lang="en-US" altLang="zh-CN" sz="3200" dirty="0"/>
              <a:t>exercise</a:t>
            </a:r>
            <a:r>
              <a:rPr kumimoji="1" lang="zh-CN" altLang="en-US" sz="3200" dirty="0"/>
              <a:t>的</a:t>
            </a:r>
            <a:r>
              <a:rPr kumimoji="1" lang="en-US" altLang="zh-CN" sz="3200" dirty="0"/>
              <a:t>01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concurrency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sync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zh-CN" altLang="en-US" sz="3200" dirty="0"/>
              <a:t>该实验包括四个用户态的小实验，主要涵盖以下知识点：</a:t>
            </a:r>
            <a:endParaRPr kumimoji="1" lang="en-US" altLang="zh-CN" sz="32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zh-CN" sz="3200" dirty="0"/>
              <a:t>Rust</a:t>
            </a:r>
            <a:r>
              <a:rPr kumimoji="1" lang="zh-CN" altLang="en-US" sz="3200" dirty="0"/>
              <a:t>中的基本线程操作</a:t>
            </a:r>
            <a:endParaRPr kumimoji="1" lang="en-US" altLang="zh-CN" sz="32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在线程中使用</a:t>
            </a:r>
            <a:r>
              <a:rPr kumimoji="1" lang="en-US" altLang="zh-CN" sz="3200" dirty="0"/>
              <a:t>Mutex</a:t>
            </a:r>
            <a:endParaRPr kumimoji="1" lang="en-US" altLang="zh-CN" sz="32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kumimoji="1" lang="en-US" altLang="zh-CN" sz="3200" dirty="0"/>
              <a:t>Rust</a:t>
            </a:r>
            <a:r>
              <a:rPr kumimoji="1" lang="zh-CN" altLang="en-US" sz="3200" dirty="0"/>
              <a:t>中线程间通信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zh-CN" altLang="en-US" sz="3200" dirty="0"/>
              <a:t>本节课是第三节课</a:t>
            </a:r>
            <a:r>
              <a:rPr lang="zh-CN" altLang="en-US" sz="3200" dirty="0"/>
              <a:t>并发进阶的前置课程。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1000" y="281354"/>
            <a:ext cx="1001150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zh-CN" altLang="en-US" sz="3200" dirty="0"/>
              <a:t>学习了解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内核（上课做题）和写一个内核的差异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zh-CN" altLang="en-US" sz="3200" dirty="0"/>
              <a:t>让我们从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内核的特性开始讲起（以下四条来自于导学）</a:t>
            </a:r>
            <a:endParaRPr kumimoji="1" lang="en-US" altLang="zh-CN" sz="32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并发</a:t>
            </a:r>
            <a:endParaRPr kumimoji="1" lang="en-US" altLang="zh-CN" sz="32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共享</a:t>
            </a:r>
            <a:endParaRPr kumimoji="1" lang="en-US" altLang="zh-CN" sz="32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异步</a:t>
            </a:r>
            <a:endParaRPr kumimoji="1" lang="en-US" altLang="zh-CN" sz="32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3200" dirty="0"/>
              <a:t>虚拟</a:t>
            </a:r>
            <a:endParaRPr kumimoji="1" lang="en-US" altLang="zh-CN" sz="3200" dirty="0"/>
          </a:p>
          <a:p>
            <a:endParaRPr kumimoji="1" lang="en-US" altLang="zh-CN" sz="28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r>
              <a:rPr kumimoji="1" lang="zh-CN" altLang="en-US" sz="2800" b="1" dirty="0"/>
              <a:t>“实现”</a:t>
            </a:r>
            <a:r>
              <a:rPr kumimoji="1" lang="zh-CN" altLang="en-US" sz="2800" dirty="0"/>
              <a:t>一个</a:t>
            </a:r>
            <a:r>
              <a:rPr kumimoji="1" lang="en-US" altLang="zh-CN" sz="2800" dirty="0"/>
              <a:t>OS</a:t>
            </a:r>
            <a:r>
              <a:rPr kumimoji="1" lang="zh-CN" altLang="en-US" sz="2800" dirty="0"/>
              <a:t>内核需要关注的一些特点</a:t>
            </a:r>
            <a:endParaRPr kumimoji="1" lang="en-US" altLang="zh-CN" sz="2800" dirty="0"/>
          </a:p>
          <a:p>
            <a:r>
              <a:rPr kumimoji="1" lang="zh-CN" altLang="en-US" sz="2800" dirty="0"/>
              <a:t>（注：纯一家之言，用不着记，听听就好）</a:t>
            </a:r>
            <a:endParaRPr kumimoji="1" lang="en-US" altLang="zh-CN" sz="2800" dirty="0"/>
          </a:p>
          <a:p>
            <a:endParaRPr kumimoji="1" lang="en-US" altLang="zh-CN" sz="32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2800" dirty="0"/>
              <a:t>并发性</a:t>
            </a:r>
            <a:endParaRPr kumimoji="1" lang="en-US" altLang="zh-CN" sz="2800" dirty="0"/>
          </a:p>
          <a:p>
            <a:r>
              <a:rPr kumimoji="1" lang="zh-CN" altLang="en-US" sz="2800" dirty="0"/>
              <a:t>（和学习了解中提到的并发性的区别在于：学概念可能更偏向于，</a:t>
            </a:r>
            <a:r>
              <a:rPr kumimoji="1" lang="en-US" altLang="zh-CN" sz="2800" dirty="0"/>
              <a:t>OS</a:t>
            </a:r>
            <a:r>
              <a:rPr kumimoji="1" lang="zh-CN" altLang="en-US" sz="2800" dirty="0"/>
              <a:t>向上封装了多个程序在并发，但是写</a:t>
            </a:r>
            <a:r>
              <a:rPr kumimoji="1" lang="en-US" altLang="zh-CN" sz="2800" dirty="0"/>
              <a:t>OS</a:t>
            </a:r>
            <a:r>
              <a:rPr kumimoji="1" lang="zh-CN" altLang="en-US" sz="2800" dirty="0"/>
              <a:t>，真的需要时刻考虑一个变量是不是会被其他核心其他程序修改掉。）</a:t>
            </a:r>
            <a:endParaRPr kumimoji="1" lang="en-US" altLang="zh-CN" sz="28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2800" dirty="0"/>
              <a:t>自组织自管理性</a:t>
            </a:r>
            <a:endParaRPr kumimoji="1" lang="en-US" altLang="zh-CN" sz="28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2800" dirty="0"/>
              <a:t>框架性</a:t>
            </a:r>
            <a:endParaRPr kumimoji="1" lang="en-US" altLang="zh-CN" sz="280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zh-CN" altLang="en-US" sz="2800"/>
              <a:t>防御性</a:t>
            </a:r>
            <a:endParaRPr kumimoji="1" lang="en-US" altLang="zh-CN" sz="28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1347218" y="5265714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6837" y="1434373"/>
            <a:ext cx="5480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单核情况下：</a:t>
            </a:r>
            <a:endParaRPr kumimoji="1" lang="en-US" altLang="zh-CN" sz="2400" dirty="0"/>
          </a:p>
          <a:p>
            <a:r>
              <a:rPr kumimoji="1" lang="zh-CN" altLang="en-US" sz="2400" dirty="0"/>
              <a:t>执行流的概念</a:t>
            </a:r>
            <a:endParaRPr kumimoji="1" lang="en-US" altLang="zh-CN" sz="2400" dirty="0"/>
          </a:p>
          <a:p>
            <a:r>
              <a:rPr kumimoji="1" lang="zh-CN" altLang="en-US" sz="2400" dirty="0"/>
              <a:t>上下文切换</a:t>
            </a:r>
            <a:endParaRPr kumimoji="1"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347218" y="3657147"/>
            <a:ext cx="3566160" cy="3657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执行流</a:t>
            </a:r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cxnSp>
        <p:nvCxnSpPr>
          <p:cNvPr id="8" name="直线箭头连接符 7"/>
          <p:cNvCxnSpPr/>
          <p:nvPr/>
        </p:nvCxnSpPr>
        <p:spPr>
          <a:xfrm>
            <a:off x="557784" y="5193339"/>
            <a:ext cx="109545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913378" y="4588606"/>
            <a:ext cx="2852928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执行流</a:t>
            </a:r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766306" y="3657147"/>
            <a:ext cx="2852928" cy="3657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执行流</a:t>
            </a:r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765792" y="5446355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时间轴</a:t>
            </a:r>
            <a:endParaRPr kumimoji="1" lang="zh-CN" altLang="en-US" dirty="0"/>
          </a:p>
        </p:txBody>
      </p:sp>
      <p:cxnSp>
        <p:nvCxnSpPr>
          <p:cNvPr id="14" name="直线箭头连接符 13"/>
          <p:cNvCxnSpPr/>
          <p:nvPr/>
        </p:nvCxnSpPr>
        <p:spPr>
          <a:xfrm>
            <a:off x="4913378" y="4022907"/>
            <a:ext cx="0" cy="565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 flipV="1">
            <a:off x="7766306" y="4022907"/>
            <a:ext cx="0" cy="565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056632" y="3840027"/>
            <a:ext cx="96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上下文切换走</a:t>
            </a:r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6797042" y="3840027"/>
            <a:ext cx="96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上下文切回来</a:t>
            </a:r>
            <a:endParaRPr kumimoji="1"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760720" y="2084730"/>
            <a:ext cx="1036322" cy="2984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变量</a:t>
            </a:r>
            <a:endParaRPr kumimoji="1" lang="zh-CN" altLang="en-US" dirty="0"/>
          </a:p>
        </p:txBody>
      </p:sp>
      <p:cxnSp>
        <p:nvCxnSpPr>
          <p:cNvPr id="23" name="直线箭头连接符 22"/>
          <p:cNvCxnSpPr>
            <a:stCxn id="6" idx="0"/>
            <a:endCxn id="21" idx="2"/>
          </p:cNvCxnSpPr>
          <p:nvPr/>
        </p:nvCxnSpPr>
        <p:spPr>
          <a:xfrm flipV="1">
            <a:off x="3130298" y="2383140"/>
            <a:ext cx="3148583" cy="127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/>
          <p:cNvCxnSpPr>
            <a:stCxn id="10" idx="0"/>
            <a:endCxn id="21" idx="2"/>
          </p:cNvCxnSpPr>
          <p:nvPr/>
        </p:nvCxnSpPr>
        <p:spPr>
          <a:xfrm flipH="1" flipV="1">
            <a:off x="6278881" y="2383140"/>
            <a:ext cx="60961" cy="2205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>
            <a:stCxn id="11" idx="0"/>
            <a:endCxn id="21" idx="2"/>
          </p:cNvCxnSpPr>
          <p:nvPr/>
        </p:nvCxnSpPr>
        <p:spPr>
          <a:xfrm flipH="1" flipV="1">
            <a:off x="6278881" y="2383140"/>
            <a:ext cx="2913889" cy="127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883154" y="2425600"/>
            <a:ext cx="117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写入变量</a:t>
            </a:r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5166364" y="3096406"/>
            <a:ext cx="117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写入变量</a:t>
            </a:r>
            <a:endParaRPr kumimoji="1"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7640221" y="2441602"/>
            <a:ext cx="201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读出变量，发现被改变，凉凉！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1887121" y="2556106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0999" y="1051765"/>
            <a:ext cx="11811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zh-CN" altLang="en-US" sz="2400" dirty="0"/>
              <a:t>可以直接看</a:t>
            </a:r>
            <a:r>
              <a:rPr kumimoji="1" lang="en-US" altLang="zh-CN" sz="2400" dirty="0"/>
              <a:t>《</a:t>
            </a:r>
            <a:r>
              <a:rPr kumimoji="1" lang="zh-CN" altLang="en-US" sz="2400" dirty="0"/>
              <a:t>深入理解计算机体系结构</a:t>
            </a:r>
            <a:r>
              <a:rPr kumimoji="1" lang="en-US" altLang="zh-CN" sz="2400" dirty="0"/>
              <a:t>》</a:t>
            </a:r>
            <a:r>
              <a:rPr kumimoji="1" lang="zh-CN" altLang="en-US" sz="2400" dirty="0"/>
              <a:t>去了，一个典型的模型如下（当然核心数量更多的话，可以跟我探讨一下内部总线长啥拓扑等细致问题，不过我们讲系统编程，那先这样吧）</a:t>
            </a:r>
            <a:endParaRPr kumimoji="1" lang="zh-CN" altLang="en-US" sz="2400" dirty="0"/>
          </a:p>
        </p:txBody>
      </p:sp>
      <p:sp>
        <p:nvSpPr>
          <p:cNvPr id="6" name="圆角矩形 5"/>
          <p:cNvSpPr/>
          <p:nvPr/>
        </p:nvSpPr>
        <p:spPr>
          <a:xfrm>
            <a:off x="4508401" y="2556106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49961" y="4058769"/>
            <a:ext cx="1527048" cy="56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D/I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330093" y="4058769"/>
            <a:ext cx="1527048" cy="56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D/I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749961" y="4772002"/>
            <a:ext cx="4107180" cy="493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L2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35024" y="2265370"/>
            <a:ext cx="5148072" cy="346398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332635" y="5330341"/>
            <a:ext cx="94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簇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662928" y="5144576"/>
            <a:ext cx="4512095" cy="5847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663842" y="5330341"/>
            <a:ext cx="291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簇（上面图片省略不画了）</a:t>
            </a:r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749960" y="5878961"/>
            <a:ext cx="8719919" cy="354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1749959" y="6382777"/>
            <a:ext cx="8719919" cy="354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3561179" y="4658669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0999" y="1242349"/>
            <a:ext cx="110828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、乱序执行和强弱内存模型</a:t>
            </a:r>
            <a:endParaRPr kumimoji="1" lang="en-US" altLang="zh-CN" sz="2400" dirty="0"/>
          </a:p>
          <a:p>
            <a:r>
              <a:rPr kumimoji="1" lang="zh-CN" altLang="en-US" sz="2400" dirty="0"/>
              <a:t>乱序执行会带来问题很好理解，原本期望的是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指令</a:t>
            </a:r>
            <a:r>
              <a:rPr kumimoji="1" lang="en-US" altLang="zh-CN" sz="2400" dirty="0"/>
              <a:t>-&gt;B</a:t>
            </a:r>
            <a:r>
              <a:rPr kumimoji="1" lang="zh-CN" altLang="en-US" sz="2400" dirty="0"/>
              <a:t>指令，现在重排（编译器重排</a:t>
            </a:r>
            <a:r>
              <a:rPr kumimoji="1" lang="en-US" altLang="zh-CN" sz="2400" dirty="0"/>
              <a:t>/CPU</a:t>
            </a:r>
            <a:r>
              <a:rPr kumimoji="1" lang="zh-CN" altLang="en-US" sz="2400" dirty="0"/>
              <a:t>内部乱序）顺序就乱了。（至于写写，读写，读读等细节问题，再说吧）</a:t>
            </a:r>
            <a:endParaRPr kumimoji="1" lang="en-US" altLang="zh-CN" sz="2400" dirty="0"/>
          </a:p>
          <a:p>
            <a:r>
              <a:rPr kumimoji="1" lang="zh-CN" altLang="en-US" sz="2400" dirty="0"/>
              <a:t>虽然乱序执行本身是单核的情况，不过单核编译器自己会优化让他看上去虽然内存序乱了，但是没啥依赖关系，就乱了就乱了，就算是上下文切换，那么多指令，基本刷也刷掉了。</a:t>
            </a:r>
            <a:endParaRPr kumimoji="1" lang="en-US" altLang="zh-CN" sz="2400" dirty="0"/>
          </a:p>
          <a:p>
            <a:r>
              <a:rPr kumimoji="1" lang="zh-CN" altLang="en-US" sz="2400" dirty="0"/>
              <a:t>但这个问题在多核情况下才是暴露的更为明显的，确切来说，那就是一个核心试图观察另一个核心的内存操作顺序</a:t>
            </a:r>
            <a:endParaRPr kumimoji="1" lang="en-US" altLang="zh-CN" sz="2400" dirty="0"/>
          </a:p>
        </p:txBody>
      </p:sp>
      <p:sp>
        <p:nvSpPr>
          <p:cNvPr id="6" name="圆角矩形 5"/>
          <p:cNvSpPr/>
          <p:nvPr/>
        </p:nvSpPr>
        <p:spPr>
          <a:xfrm>
            <a:off x="6182459" y="4658669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72147" y="6192598"/>
            <a:ext cx="1594104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cxnSp>
        <p:nvCxnSpPr>
          <p:cNvPr id="9" name="直线箭头连接符 8"/>
          <p:cNvCxnSpPr>
            <a:stCxn id="3" idx="2"/>
            <a:endCxn id="7" idx="0"/>
          </p:cNvCxnSpPr>
          <p:nvPr/>
        </p:nvCxnSpPr>
        <p:spPr>
          <a:xfrm>
            <a:off x="4146395" y="5829101"/>
            <a:ext cx="2622804" cy="3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>
            <a:stCxn id="6" idx="2"/>
            <a:endCxn id="7" idx="0"/>
          </p:cNvCxnSpPr>
          <p:nvPr/>
        </p:nvCxnSpPr>
        <p:spPr>
          <a:xfrm>
            <a:off x="6767675" y="5829101"/>
            <a:ext cx="1524" cy="3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892680"/>
            <a:ext cx="97912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、乱序执行和强弱内存模型</a:t>
            </a:r>
            <a:endParaRPr kumimoji="1" lang="en-US" altLang="zh-CN" sz="2400" dirty="0"/>
          </a:p>
          <a:p>
            <a:r>
              <a:rPr kumimoji="1" lang="zh-CN" altLang="en-US" sz="2400" dirty="0"/>
              <a:t>强内存模型（举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的例子）</a:t>
            </a:r>
            <a:endParaRPr kumimoji="1" lang="en-US" altLang="zh-CN" sz="2400" dirty="0"/>
          </a:p>
          <a:p>
            <a:r>
              <a:rPr kumimoji="1" lang="zh-CN" altLang="en-US" sz="2400" dirty="0"/>
              <a:t>弱内存模型（举</a:t>
            </a:r>
            <a:r>
              <a:rPr kumimoji="1" lang="en-US" altLang="zh-CN" sz="2400" dirty="0"/>
              <a:t>Arm</a:t>
            </a:r>
            <a:r>
              <a:rPr kumimoji="1" lang="zh-CN" altLang="en-US" sz="2400" dirty="0"/>
              <a:t>的例子，其实</a:t>
            </a:r>
            <a:r>
              <a:rPr kumimoji="1" lang="en-US" altLang="zh-CN" sz="2400" dirty="0"/>
              <a:t>RISC-V</a:t>
            </a:r>
            <a:r>
              <a:rPr kumimoji="1" lang="zh-CN" altLang="en-US" sz="2400" dirty="0"/>
              <a:t>也是）</a:t>
            </a:r>
            <a:endParaRPr kumimoji="1" lang="en-US" altLang="zh-CN" sz="2400" dirty="0"/>
          </a:p>
          <a:p>
            <a:r>
              <a:rPr kumimoji="1" lang="en-US" altLang="zh-CN" sz="2400" dirty="0"/>
              <a:t>Arm</a:t>
            </a:r>
            <a:r>
              <a:rPr kumimoji="1" lang="zh-CN" altLang="en-US" sz="2400" dirty="0"/>
              <a:t>的内存序指令</a:t>
            </a:r>
            <a:endParaRPr kumimoji="1" lang="en-US" altLang="zh-CN" sz="2400" dirty="0"/>
          </a:p>
          <a:p>
            <a:r>
              <a:rPr kumimoji="1" lang="en-US" altLang="zh-CN" sz="2400" dirty="0" err="1"/>
              <a:t>dmb</a:t>
            </a:r>
            <a:r>
              <a:rPr kumimoji="1" lang="zh-CN" altLang="en-US" sz="2400" dirty="0"/>
              <a:t>，只保证前后内存指令的内存序</a:t>
            </a:r>
            <a:endParaRPr kumimoji="1" lang="en-US" altLang="zh-CN" sz="2400" dirty="0"/>
          </a:p>
          <a:p>
            <a:r>
              <a:rPr kumimoji="1" lang="en-US" altLang="zh-CN" sz="2400" dirty="0" err="1"/>
              <a:t>dsb</a:t>
            </a:r>
            <a:r>
              <a:rPr kumimoji="1" lang="zh-CN" altLang="en-US" sz="2400" dirty="0"/>
              <a:t>，之前的内存访问都完成了，才能执行后续指令</a:t>
            </a:r>
            <a:endParaRPr kumimoji="1" lang="en-US" altLang="zh-CN" sz="2400" dirty="0"/>
          </a:p>
          <a:p>
            <a:r>
              <a:rPr kumimoji="1" lang="en-US" altLang="zh-CN" sz="2400" dirty="0" err="1"/>
              <a:t>Isb</a:t>
            </a:r>
            <a:r>
              <a:rPr kumimoji="1" lang="zh-CN" altLang="en-US" sz="2400" dirty="0"/>
              <a:t>，最严格的屏障，前面的指令都结束了，才能执行后续的指令</a:t>
            </a:r>
            <a:endParaRPr kumimoji="1" lang="en-US" altLang="zh-CN" sz="2400" dirty="0"/>
          </a:p>
          <a:p>
            <a:r>
              <a:rPr kumimoji="1" lang="zh-CN" altLang="en-US" sz="2400" dirty="0"/>
              <a:t>（显然越严格性能越差）</a:t>
            </a:r>
            <a:endParaRPr kumimoji="1" lang="en-US" altLang="zh-CN" sz="2400" dirty="0"/>
          </a:p>
          <a:p>
            <a:r>
              <a:rPr kumimoji="1" lang="en-US" altLang="zh-CN" sz="2400" dirty="0"/>
              <a:t>X86</a:t>
            </a:r>
            <a:endParaRPr kumimoji="1" lang="en-US" altLang="zh-CN" sz="2400" dirty="0"/>
          </a:p>
          <a:p>
            <a:r>
              <a:rPr kumimoji="1" lang="en-US" altLang="zh-CN" sz="2400" dirty="0" err="1"/>
              <a:t>sfence</a:t>
            </a:r>
            <a:r>
              <a:rPr kumimoji="1" lang="zh-CN" altLang="en-US" sz="2400" dirty="0"/>
              <a:t>，保证写操作</a:t>
            </a:r>
            <a:endParaRPr kumimoji="1" lang="en-US" altLang="zh-CN" sz="2400" dirty="0"/>
          </a:p>
          <a:p>
            <a:r>
              <a:rPr kumimoji="1" lang="en-US" altLang="zh-CN" sz="2400" dirty="0" err="1"/>
              <a:t>ifence</a:t>
            </a:r>
            <a:r>
              <a:rPr kumimoji="1" lang="zh-CN" altLang="en-US" sz="2400" dirty="0"/>
              <a:t>，保证读操作</a:t>
            </a:r>
            <a:endParaRPr kumimoji="1" lang="en-US" altLang="zh-CN" sz="2400" dirty="0"/>
          </a:p>
          <a:p>
            <a:r>
              <a:rPr kumimoji="1" lang="en-US" altLang="zh-CN" sz="2400" dirty="0" err="1"/>
              <a:t>mfence</a:t>
            </a:r>
            <a:r>
              <a:rPr kumimoji="1" lang="zh-CN" altLang="en-US" sz="2400" dirty="0"/>
              <a:t>，适用于全屏障</a:t>
            </a:r>
            <a:endParaRPr kumimoji="1" lang="en-US" altLang="zh-CN" sz="2400" dirty="0"/>
          </a:p>
          <a:p>
            <a:r>
              <a:rPr kumimoji="1" lang="zh-CN" altLang="en-US" sz="2400" dirty="0"/>
              <a:t>（</a:t>
            </a:r>
            <a:r>
              <a:rPr lang="en-GB" altLang="zh-CN" dirty="0"/>
              <a:t> </a:t>
            </a:r>
            <a:r>
              <a:rPr kumimoji="1" lang="en-GB" altLang="zh-CN" sz="2400" dirty="0"/>
              <a:t>x86</a:t>
            </a:r>
            <a:r>
              <a:rPr kumimoji="1" lang="zh-CN" altLang="en-US" sz="2400" dirty="0"/>
              <a:t>上唯一需要显式</a:t>
            </a:r>
            <a:r>
              <a:rPr kumimoji="1" lang="en-GB" altLang="zh-CN" sz="2400" dirty="0"/>
              <a:t>fence</a:t>
            </a:r>
            <a:r>
              <a:rPr kumimoji="1" lang="zh-CN" altLang="en-US" sz="2400" dirty="0"/>
              <a:t>的场景就是防止</a:t>
            </a:r>
            <a:r>
              <a:rPr kumimoji="1" lang="en-GB" altLang="zh-CN" sz="2400" dirty="0" err="1"/>
              <a:t>StoreLoad</a:t>
            </a:r>
            <a:r>
              <a:rPr kumimoji="1" lang="zh-CN" altLang="en-US" sz="2400" dirty="0"/>
              <a:t>重排，用</a:t>
            </a:r>
            <a:r>
              <a:rPr kumimoji="1" lang="en-GB" altLang="zh-CN" sz="2400" dirty="0" err="1"/>
              <a:t>mfence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r>
              <a:rPr kumimoji="1" lang="en-US" altLang="zh-CN" sz="2400" dirty="0"/>
              <a:t>RISCV</a:t>
            </a:r>
            <a:r>
              <a:rPr kumimoji="1" lang="zh-CN" altLang="en-US" sz="2400" dirty="0"/>
              <a:t>也同样有</a:t>
            </a:r>
            <a:r>
              <a:rPr kumimoji="1" lang="en-US" altLang="zh-CN" sz="2400" dirty="0"/>
              <a:t>Fence</a:t>
            </a:r>
            <a:r>
              <a:rPr kumimoji="1" lang="zh-CN" altLang="en-US" sz="2400" dirty="0"/>
              <a:t>扩展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242349"/>
            <a:ext cx="109522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、乱序执行和强弱内存模型</a:t>
            </a:r>
            <a:endParaRPr kumimoji="1" lang="en-US" altLang="zh-CN" sz="2400" dirty="0"/>
          </a:p>
          <a:p>
            <a:r>
              <a:rPr kumimoji="1" lang="zh-CN" altLang="en-US" sz="2400" dirty="0"/>
              <a:t>上层程序员的抽象（显然我们不应该这么关注系统底层）下面给了</a:t>
            </a:r>
            <a:r>
              <a:rPr kumimoji="1" lang="en-US" altLang="zh-CN" sz="2400" dirty="0"/>
              <a:t>C++</a:t>
            </a:r>
            <a:r>
              <a:rPr kumimoji="1" lang="zh-CN" altLang="en-US" sz="2400" dirty="0"/>
              <a:t>的（显然是问大模型搜出来的，反正我记不住，忘了搜一下吧）</a:t>
            </a:r>
            <a:endParaRPr kumimoji="1" lang="en-US" altLang="zh-CN" sz="2400" dirty="0"/>
          </a:p>
          <a:p>
            <a:endParaRPr kumimoji="1" lang="en-US" altLang="zh-CN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58717" y="2919802"/>
          <a:ext cx="10296144" cy="3378834"/>
        </p:xfrm>
        <a:graphic>
          <a:graphicData uri="http://schemas.openxmlformats.org/drawingml/2006/table">
            <a:tbl>
              <a:tblPr/>
              <a:tblGrid>
                <a:gridCol w="3432048"/>
                <a:gridCol w="3432048"/>
                <a:gridCol w="3432048"/>
              </a:tblGrid>
              <a:tr h="371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effectLst/>
                        </a:rPr>
                        <a:t>内存序</a:t>
                      </a:r>
                      <a:endParaRPr lang="zh-CN" altLang="en-US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effectLst/>
                        </a:rPr>
                        <a:t>含义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对应硬件行为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memory_order_relaxed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仅保证原子性，无顺序保证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不插入任何屏障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0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memory_order_consume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依赖数据的前后顺序（已废弃，不推荐）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数据依赖排序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memory_order_acquire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之后的读写不能重排到此加载之前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Load</a:t>
                      </a:r>
                      <a:r>
                        <a:rPr lang="zh-CN" altLang="en-US" sz="1600">
                          <a:effectLst/>
                        </a:rPr>
                        <a:t>上插入</a:t>
                      </a:r>
                      <a:r>
                        <a:rPr lang="en-GB" sz="1600">
                          <a:effectLst/>
                        </a:rPr>
                        <a:t>DMB（</a:t>
                      </a:r>
                      <a:r>
                        <a:rPr lang="zh-CN" altLang="en-US" sz="1600">
                          <a:effectLst/>
                        </a:rPr>
                        <a:t>类似</a:t>
                      </a:r>
                      <a:r>
                        <a:rPr lang="en-GB" sz="1600">
                          <a:effectLst/>
                        </a:rPr>
                        <a:t>DMB.ishld）</a:t>
                      </a:r>
                      <a:endParaRPr lang="en-GB" sz="160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memory_order_release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之前的读写不能重排到此存储之后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Store</a:t>
                      </a:r>
                      <a:r>
                        <a:rPr lang="zh-CN" altLang="en-US" sz="1600">
                          <a:effectLst/>
                        </a:rPr>
                        <a:t>前插入</a:t>
                      </a:r>
                      <a:r>
                        <a:rPr lang="en-GB" sz="1600">
                          <a:effectLst/>
                        </a:rPr>
                        <a:t>DMB（</a:t>
                      </a:r>
                      <a:r>
                        <a:rPr lang="zh-CN" altLang="en-US" sz="1600">
                          <a:effectLst/>
                        </a:rPr>
                        <a:t>类似</a:t>
                      </a:r>
                      <a:r>
                        <a:rPr lang="en-GB" sz="1600">
                          <a:effectLst/>
                        </a:rPr>
                        <a:t>DMB.ishst）</a:t>
                      </a:r>
                      <a:endParaRPr lang="en-GB" sz="160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7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memory_order_acq_rel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同时包含</a:t>
                      </a:r>
                      <a:r>
                        <a:rPr lang="en-GB" sz="1600">
                          <a:effectLst/>
                        </a:rPr>
                        <a:t>acquire</a:t>
                      </a:r>
                      <a:r>
                        <a:rPr lang="zh-CN" altLang="en-US" sz="1600">
                          <a:effectLst/>
                        </a:rPr>
                        <a:t>和</a:t>
                      </a:r>
                      <a:r>
                        <a:rPr lang="en-GB" sz="1600">
                          <a:effectLst/>
                        </a:rPr>
                        <a:t>release</a:t>
                      </a:r>
                      <a:r>
                        <a:rPr lang="zh-CN" altLang="en-US" sz="1600">
                          <a:effectLst/>
                        </a:rPr>
                        <a:t>语义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</a:rPr>
                        <a:t>RMW</a:t>
                      </a:r>
                      <a:r>
                        <a:rPr lang="zh-CN" altLang="en-US" sz="1600">
                          <a:effectLst/>
                        </a:rPr>
                        <a:t>操作前后加屏障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0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effectLst/>
                          <a:latin typeface="var(--ds-font-family-code)"/>
                        </a:rPr>
                        <a:t>memory_order_seq_cst</a:t>
                      </a:r>
                      <a:endParaRPr lang="en-GB" sz="1600">
                        <a:effectLst/>
                      </a:endParaRPr>
                    </a:p>
                  </a:txBody>
                  <a:tcPr marL="81207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effectLst/>
                        </a:rPr>
                        <a:t>顺序一致性，最严格</a:t>
                      </a:r>
                      <a:endParaRPr lang="zh-CN" altLang="en-US" sz="1600">
                        <a:effectLst/>
                      </a:endParaRPr>
                    </a:p>
                  </a:txBody>
                  <a:tcPr marL="135345" marR="135345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全屏障（类似</a:t>
                      </a:r>
                      <a:r>
                        <a:rPr lang="en-GB" sz="1600" u="none" strike="noStrike" dirty="0">
                          <a:effectLst/>
                          <a:hlinkClick r:id="rId1"/>
                        </a:rPr>
                        <a:t>DMB.sy</a:t>
                      </a:r>
                      <a:r>
                        <a:rPr lang="zh-CN" altLang="en-US" sz="1600" dirty="0">
                          <a:effectLst/>
                        </a:rPr>
                        <a:t>或更强的</a:t>
                      </a:r>
                      <a:r>
                        <a:rPr lang="en-GB" sz="1600" dirty="0">
                          <a:effectLst/>
                        </a:rPr>
                        <a:t>DSB）</a:t>
                      </a:r>
                      <a:endParaRPr lang="en-GB" sz="1600" dirty="0">
                        <a:effectLst/>
                      </a:endParaRPr>
                    </a:p>
                  </a:txBody>
                  <a:tcPr marL="135345" marR="81207" marT="84591" marB="84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242349"/>
            <a:ext cx="109522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1</a:t>
            </a:r>
            <a:r>
              <a:rPr kumimoji="1" lang="zh-CN" altLang="en-US" sz="2400" dirty="0"/>
              <a:t>、乱序执行和强弱内存模型</a:t>
            </a:r>
            <a:endParaRPr kumimoji="1" lang="en-US" altLang="zh-CN" sz="2400" dirty="0"/>
          </a:p>
          <a:p>
            <a:r>
              <a:rPr kumimoji="1" lang="en-US" altLang="zh-CN" sz="2400" dirty="0"/>
              <a:t>Rust</a:t>
            </a:r>
            <a:r>
              <a:rPr kumimoji="1" lang="zh-CN" altLang="en-US" sz="2400" dirty="0"/>
              <a:t>在</a:t>
            </a:r>
            <a:r>
              <a:rPr kumimoji="1" lang="en-GB" altLang="zh-CN" sz="2400" dirty="0"/>
              <a:t>core</a:t>
            </a:r>
            <a:r>
              <a:rPr lang="en-GB" altLang="zh-CN" sz="2400" dirty="0"/>
              <a:t>::sync::atomic::Ordering</a:t>
            </a:r>
            <a:r>
              <a:rPr kumimoji="1" lang="zh-CN" altLang="en-US" sz="2400" dirty="0"/>
              <a:t>里面，也给出了相应的内存序</a:t>
            </a:r>
            <a:endParaRPr kumimoji="1" lang="en-US" altLang="zh-CN" sz="2400" dirty="0"/>
          </a:p>
          <a:p>
            <a:r>
              <a:rPr kumimoji="1" lang="en-US" altLang="zh-CN" sz="2400" dirty="0"/>
              <a:t>pub </a:t>
            </a:r>
            <a:r>
              <a:rPr kumimoji="1" lang="en-US" altLang="zh-CN" sz="2400" dirty="0" err="1"/>
              <a:t>enum</a:t>
            </a:r>
            <a:r>
              <a:rPr kumimoji="1" lang="en-US" altLang="zh-CN" sz="2400" dirty="0"/>
              <a:t> Ordering {</a:t>
            </a:r>
            <a:endParaRPr kumimoji="1" lang="en-US" altLang="zh-CN" sz="2400" dirty="0"/>
          </a:p>
          <a:p>
            <a:r>
              <a:rPr kumimoji="1" lang="en-US" altLang="zh-CN" sz="2400" dirty="0"/>
              <a:t>    Relaxed,    // </a:t>
            </a:r>
            <a:r>
              <a:rPr kumimoji="1" lang="zh-CN" altLang="en-US" sz="2400" dirty="0"/>
              <a:t>对应于</a:t>
            </a:r>
            <a:r>
              <a:rPr kumimoji="1" lang="en-GB" altLang="zh-CN" sz="2400" dirty="0" err="1"/>
              <a:t>memory_order_relaxed</a:t>
            </a:r>
            <a:endParaRPr kumimoji="1" lang="en-GB" altLang="zh-CN" sz="2400" dirty="0"/>
          </a:p>
          <a:p>
            <a:r>
              <a:rPr kumimoji="1" lang="zh-CN" altLang="en-US" sz="2400" dirty="0"/>
              <a:t>    </a:t>
            </a:r>
            <a:r>
              <a:rPr kumimoji="1" lang="en-US" altLang="zh-CN" sz="2400" dirty="0"/>
              <a:t>Release,    // </a:t>
            </a:r>
            <a:r>
              <a:rPr kumimoji="1" lang="en-GB" altLang="zh-CN" sz="2400" dirty="0" err="1"/>
              <a:t>memory_order_acquire</a:t>
            </a:r>
            <a:endParaRPr kumimoji="1" lang="zh-CN" altLang="en-US" sz="2400" dirty="0"/>
          </a:p>
          <a:p>
            <a:r>
              <a:rPr kumimoji="1" lang="zh-CN" altLang="en-US" sz="2400" dirty="0"/>
              <a:t>    </a:t>
            </a:r>
            <a:r>
              <a:rPr kumimoji="1" lang="en-US" altLang="zh-CN" sz="2400" dirty="0"/>
              <a:t>Acquire,    // </a:t>
            </a:r>
            <a:r>
              <a:rPr kumimoji="1" lang="en-GB" altLang="zh-CN" sz="2400" dirty="0" err="1"/>
              <a:t>memory_order_acquire</a:t>
            </a:r>
            <a:endParaRPr kumimoji="1" lang="zh-CN" altLang="en-US" sz="2400" dirty="0"/>
          </a:p>
          <a:p>
            <a:r>
              <a:rPr kumimoji="1" lang="zh-CN" altLang="en-US" sz="2400" dirty="0"/>
              <a:t>    </a:t>
            </a:r>
            <a:r>
              <a:rPr kumimoji="1" lang="en-US" altLang="zh-CN" sz="2400" dirty="0" err="1"/>
              <a:t>AcqRel</a:t>
            </a:r>
            <a:r>
              <a:rPr kumimoji="1" lang="en-US" altLang="zh-CN" sz="2400" dirty="0"/>
              <a:t>,     // </a:t>
            </a:r>
            <a:r>
              <a:rPr kumimoji="1" lang="en-GB" altLang="zh-CN" sz="2400" dirty="0" err="1"/>
              <a:t>memory_order_acq_rel</a:t>
            </a:r>
            <a:endParaRPr kumimoji="1" lang="zh-CN" altLang="en-US" sz="2400" dirty="0"/>
          </a:p>
          <a:p>
            <a:r>
              <a:rPr kumimoji="1" lang="zh-CN" altLang="en-US" sz="2400" dirty="0"/>
              <a:t>    </a:t>
            </a:r>
            <a:r>
              <a:rPr kumimoji="1" lang="en-US" altLang="zh-CN" sz="2400" dirty="0" err="1"/>
              <a:t>SeqCst</a:t>
            </a:r>
            <a:r>
              <a:rPr kumimoji="1" lang="en-US" altLang="zh-CN" sz="2400" dirty="0"/>
              <a:t>,     // </a:t>
            </a:r>
            <a:r>
              <a:rPr kumimoji="1" lang="en-GB" altLang="zh-CN" sz="2400" dirty="0" err="1"/>
              <a:t>memory_order_seq_cst</a:t>
            </a:r>
            <a:endParaRPr kumimoji="1" lang="zh-CN" altLang="en-US" sz="2400" dirty="0"/>
          </a:p>
          <a:p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2</a:t>
            </a:r>
            <a:r>
              <a:rPr kumimoji="1" lang="zh-CN" altLang="en-US" sz="2400" dirty="0"/>
              <a:t>、缓存一致性和可见域</a:t>
            </a:r>
            <a:endParaRPr kumimoji="1" lang="en-US" altLang="zh-CN" sz="2400" dirty="0"/>
          </a:p>
          <a:p>
            <a:r>
              <a:rPr kumimoji="1" lang="zh-CN" altLang="en-US" sz="2400" dirty="0"/>
              <a:t>这个事情跟</a:t>
            </a:r>
            <a:r>
              <a:rPr kumimoji="1" lang="en-US" altLang="zh-CN" sz="2400" dirty="0"/>
              <a:t>Arm</a:t>
            </a:r>
            <a:r>
              <a:rPr kumimoji="1" lang="zh-CN" altLang="en-US" sz="2400" dirty="0"/>
              <a:t>这样的体系结构还是很有关系的。回到开头这张图，如果我只是要让同一个簇里面的其他</a:t>
            </a:r>
            <a:r>
              <a:rPr kumimoji="1" lang="en-US" altLang="zh-CN" sz="2400" dirty="0"/>
              <a:t>core</a:t>
            </a:r>
            <a:r>
              <a:rPr kumimoji="1" lang="zh-CN" altLang="en-US" sz="2400" dirty="0"/>
              <a:t>知道内存的更新，显然代价不高，如果我要让其他簇里面的核心知道内存更新，那么代价就比较高昂了。</a:t>
            </a:r>
            <a:endParaRPr kumimoji="1" lang="en-US" altLang="zh-CN" sz="2400" dirty="0"/>
          </a:p>
        </p:txBody>
      </p:sp>
      <p:sp>
        <p:nvSpPr>
          <p:cNvPr id="3" name="圆角矩形 2"/>
          <p:cNvSpPr/>
          <p:nvPr/>
        </p:nvSpPr>
        <p:spPr>
          <a:xfrm>
            <a:off x="1873202" y="3305490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4494482" y="3305490"/>
            <a:ext cx="1170432" cy="1170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core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36042" y="4579553"/>
            <a:ext cx="1527048" cy="5692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D/I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316174" y="4579553"/>
            <a:ext cx="1527048" cy="5692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L1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D/I</a:t>
            </a:r>
            <a:r>
              <a:rPr kumimoji="1" lang="zh-CN" altLang="en-US" dirty="0"/>
              <a:t>）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736042" y="5292786"/>
            <a:ext cx="4107180" cy="493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L2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21105" y="3014754"/>
            <a:ext cx="5148072" cy="320570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318716" y="5851125"/>
            <a:ext cx="94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簇</a:t>
            </a:r>
            <a:endParaRPr kumimoji="1"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649009" y="5635682"/>
            <a:ext cx="4512095" cy="58477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649923" y="5821447"/>
            <a:ext cx="291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簇（上面图片省略不画了）</a:t>
            </a:r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736040" y="6399543"/>
            <a:ext cx="8719919" cy="3542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94244" y="1014900"/>
            <a:ext cx="695113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2</a:t>
            </a:r>
            <a:r>
              <a:rPr kumimoji="1" lang="zh-CN" altLang="en-US" sz="2400" dirty="0"/>
              <a:t>、缓存一致性和可见域</a:t>
            </a:r>
            <a:endParaRPr kumimoji="1" lang="en-US" altLang="zh-CN" sz="2400" dirty="0"/>
          </a:p>
          <a:p>
            <a:r>
              <a:rPr kumimoji="1" lang="zh-CN" altLang="en-US" sz="2400" dirty="0"/>
              <a:t>缓存一致性协议比较经典的就是</a:t>
            </a:r>
            <a:r>
              <a:rPr kumimoji="1" lang="en-US" altLang="zh-CN" sz="2400" dirty="0"/>
              <a:t>MESI</a:t>
            </a:r>
            <a:r>
              <a:rPr kumimoji="1" lang="zh-CN" altLang="en-US" sz="2400" dirty="0"/>
              <a:t>协议。</a:t>
            </a:r>
            <a:endParaRPr kumimoji="1" lang="en-US" altLang="zh-CN" sz="2400" dirty="0"/>
          </a:p>
          <a:p>
            <a:r>
              <a:rPr kumimoji="1" lang="zh-CN" altLang="en-US" sz="2400" dirty="0"/>
              <a:t>简单来说，其他核心的缓存可能持有我当前要读写的内存的副本，每个缓存行都带有两个</a:t>
            </a:r>
            <a:r>
              <a:rPr kumimoji="1" lang="en-US" altLang="zh-CN" sz="2400" dirty="0"/>
              <a:t>bit</a:t>
            </a:r>
            <a:r>
              <a:rPr kumimoji="1" lang="zh-CN" altLang="en-US" sz="2400" dirty="0"/>
              <a:t>的标志位。</a:t>
            </a:r>
            <a:endParaRPr kumimoji="1" lang="en-US" altLang="zh-CN" sz="2400" dirty="0"/>
          </a:p>
          <a:p>
            <a:r>
              <a:rPr kumimoji="1" lang="en-US" altLang="zh-CN" sz="2400" dirty="0"/>
              <a:t>M</a:t>
            </a:r>
            <a:r>
              <a:rPr kumimoji="1" lang="zh-CN" altLang="en-US" sz="2400" dirty="0"/>
              <a:t>表示</a:t>
            </a:r>
            <a:r>
              <a:rPr kumimoji="1" lang="en-US" altLang="zh-CN" sz="2400" dirty="0"/>
              <a:t>modified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副本数据被修改了，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副本与当前内存中的内容不一致</a:t>
            </a:r>
            <a:endParaRPr kumimoji="1" lang="en-US" altLang="zh-CN" sz="2400" dirty="0"/>
          </a:p>
          <a:p>
            <a:r>
              <a:rPr kumimoji="1" lang="en-US" altLang="zh-CN" sz="2400" dirty="0"/>
              <a:t>E</a:t>
            </a:r>
            <a:r>
              <a:rPr kumimoji="1" lang="zh-CN" altLang="en-US" sz="2400" dirty="0"/>
              <a:t>表示</a:t>
            </a:r>
            <a:r>
              <a:rPr kumimoji="1" lang="en-US" altLang="zh-CN" sz="2400" dirty="0"/>
              <a:t>Exclusive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副本的数据和内存一致，且只有当前缓存有</a:t>
            </a:r>
            <a:endParaRPr kumimoji="1" lang="en-US" altLang="zh-CN" sz="2400" dirty="0"/>
          </a:p>
          <a:p>
            <a:r>
              <a:rPr kumimoji="1" lang="en-US" altLang="zh-CN" sz="2400" dirty="0"/>
              <a:t>S</a:t>
            </a:r>
            <a:r>
              <a:rPr kumimoji="1" lang="zh-CN" altLang="en-US" sz="2400" dirty="0"/>
              <a:t>为</a:t>
            </a:r>
            <a:r>
              <a:rPr kumimoji="1" lang="en-US" altLang="zh-CN" sz="2400" dirty="0"/>
              <a:t>Shared</a:t>
            </a:r>
            <a:r>
              <a:rPr kumimoji="1" lang="zh-CN" altLang="en-US" sz="2400" dirty="0"/>
              <a:t>，这份数据可能同时存在多个核心的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上，并且和内存一致</a:t>
            </a:r>
            <a:endParaRPr kumimoji="1" lang="en-US" altLang="zh-CN" sz="2400" dirty="0"/>
          </a:p>
          <a:p>
            <a:r>
              <a:rPr kumimoji="1" lang="en-US" altLang="zh-CN" sz="2400" dirty="0"/>
              <a:t>I</a:t>
            </a:r>
            <a:r>
              <a:rPr kumimoji="1" lang="zh-CN" altLang="en-US" sz="2400" dirty="0"/>
              <a:t>为</a:t>
            </a:r>
            <a:r>
              <a:rPr kumimoji="1" lang="en-US" altLang="zh-CN" sz="2400" dirty="0"/>
              <a:t>Invalid</a:t>
            </a:r>
            <a:r>
              <a:rPr kumimoji="1" lang="zh-CN" altLang="en-US" sz="2400" dirty="0"/>
              <a:t>，数据无效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如何保证一致？通过总线嗅探，监测其他核心上的内存使用</a:t>
            </a:r>
            <a:endParaRPr kumimoji="1" lang="en-US" altLang="zh-CN" sz="2400" dirty="0"/>
          </a:p>
        </p:txBody>
      </p:sp>
      <p:pic>
        <p:nvPicPr>
          <p:cNvPr id="10" name="图片 9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700" y="1278467"/>
            <a:ext cx="5067300" cy="37592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780867" y="5122333"/>
            <a:ext cx="3640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（感谢</a:t>
            </a:r>
            <a:r>
              <a:rPr kumimoji="1" lang="en-US" altLang="zh-CN" dirty="0" err="1"/>
              <a:t>csdn</a:t>
            </a:r>
            <a:r>
              <a:rPr kumimoji="1" lang="zh-CN" altLang="en-US" dirty="0"/>
              <a:t>的老哥贡献了这张图）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2</a:t>
            </a:r>
            <a:r>
              <a:rPr kumimoji="1" lang="zh-CN" altLang="en-US" sz="2400" dirty="0"/>
              <a:t>、缓存一致性和可见域</a:t>
            </a:r>
            <a:endParaRPr kumimoji="1" lang="en-US" altLang="zh-CN" sz="2400" dirty="0"/>
          </a:p>
          <a:p>
            <a:r>
              <a:rPr kumimoji="1" lang="zh-CN" altLang="en-US" sz="2400" dirty="0"/>
              <a:t>可见域</a:t>
            </a:r>
            <a:endParaRPr kumimoji="1" lang="en-US" altLang="zh-CN" sz="2400" dirty="0"/>
          </a:p>
          <a:p>
            <a:r>
              <a:rPr kumimoji="1" lang="zh-CN" altLang="en-US" sz="2400" dirty="0"/>
              <a:t>上面的缓存一致性协议自然带来了可见域的问题，也就是开头提到的，如果给其他域同步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的信息，成本就高了。</a:t>
            </a:r>
            <a:endParaRPr kumimoji="1" lang="en-US" altLang="zh-CN" sz="2400" dirty="0"/>
          </a:p>
          <a:p>
            <a:r>
              <a:rPr kumimoji="1" lang="en-US" altLang="zh-CN" sz="2400" dirty="0"/>
              <a:t>Arm</a:t>
            </a:r>
            <a:r>
              <a:rPr kumimoji="1" lang="zh-CN" altLang="en-US" sz="2400" dirty="0"/>
              <a:t>就维护了一个三个可见域</a:t>
            </a:r>
            <a:endParaRPr kumimoji="1" lang="en-US" altLang="zh-CN" sz="2400" dirty="0"/>
          </a:p>
          <a:p>
            <a:r>
              <a:rPr kumimoji="1" lang="en-US" altLang="zh-CN" sz="2400" dirty="0"/>
              <a:t>Inner</a:t>
            </a:r>
            <a:r>
              <a:rPr kumimoji="1" lang="zh-CN" altLang="en-US" sz="2400" dirty="0"/>
              <a:t>（簇内）</a:t>
            </a:r>
            <a:r>
              <a:rPr kumimoji="1" lang="en-US" altLang="zh-CN" sz="2400" dirty="0"/>
              <a:t>/Outer</a:t>
            </a:r>
            <a:r>
              <a:rPr kumimoji="1" lang="zh-CN" altLang="en-US" sz="2400" dirty="0"/>
              <a:t>（包括其他核心）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全局（也包括一些</a:t>
            </a:r>
            <a:r>
              <a:rPr kumimoji="1" lang="en-US" altLang="zh-CN" sz="2400" dirty="0"/>
              <a:t>DMA</a:t>
            </a:r>
            <a:r>
              <a:rPr kumimoji="1" lang="zh-CN" altLang="en-US" sz="2400" dirty="0"/>
              <a:t>设备等）</a:t>
            </a:r>
            <a:endParaRPr kumimoji="1" lang="en-US" altLang="zh-CN" sz="2400" dirty="0"/>
          </a:p>
          <a:p>
            <a:r>
              <a:rPr kumimoji="1" lang="zh-CN" altLang="en-US" sz="2400" dirty="0"/>
              <a:t>（例如写</a:t>
            </a:r>
            <a:r>
              <a:rPr kumimoji="1" lang="en-US" altLang="zh-CN" sz="2400" dirty="0" err="1"/>
              <a:t>dmb</a:t>
            </a:r>
            <a:r>
              <a:rPr kumimoji="1" lang="zh-CN" altLang="en-US" sz="2400" dirty="0"/>
              <a:t>指令要加上</a:t>
            </a:r>
            <a:r>
              <a:rPr kumimoji="1" lang="en-US" altLang="zh-CN" sz="2400" dirty="0" err="1"/>
              <a:t>ish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osh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sy</a:t>
            </a:r>
            <a:r>
              <a:rPr kumimoji="1" lang="zh-CN" altLang="en-US" sz="2400" dirty="0"/>
              <a:t>等后缀来指定</a:t>
            </a:r>
            <a:r>
              <a:rPr kumimoji="1" lang="en-US" altLang="zh-CN" sz="2400" dirty="0"/>
              <a:t>cache</a:t>
            </a:r>
            <a:r>
              <a:rPr kumimoji="1" lang="zh-CN" altLang="en-US" sz="2400" dirty="0"/>
              <a:t>同步的范围，当然其他清理）</a:t>
            </a:r>
            <a:endParaRPr kumimoji="1" lang="en-US" altLang="zh-CN" sz="2400" dirty="0"/>
          </a:p>
          <a:p>
            <a:r>
              <a:rPr kumimoji="1" lang="en-US" altLang="zh-CN" sz="2400" dirty="0"/>
              <a:t>RISCV</a:t>
            </a:r>
            <a:r>
              <a:rPr kumimoji="1" lang="zh-CN" altLang="en-US" sz="2400" dirty="0"/>
              <a:t>则使用了</a:t>
            </a:r>
            <a:r>
              <a:rPr kumimoji="1" lang="en-US" altLang="zh-CN" sz="2400" dirty="0"/>
              <a:t>POC</a:t>
            </a:r>
            <a:r>
              <a:rPr kumimoji="1" lang="zh-CN" altLang="en-US" sz="2400" dirty="0"/>
              <a:t>，他区分了两种</a:t>
            </a:r>
            <a:r>
              <a:rPr kumimoji="1" lang="en-GB" altLang="zh-CN" sz="2400" dirty="0"/>
              <a:t>POC-System</a:t>
            </a:r>
            <a:r>
              <a:rPr kumimoji="1" lang="zh-CN" altLang="en-GB" sz="2400" dirty="0"/>
              <a:t>和</a:t>
            </a:r>
            <a:r>
              <a:rPr kumimoji="1" lang="en-US" altLang="zh-CN" sz="2400" dirty="0"/>
              <a:t>POC-Harts</a:t>
            </a:r>
            <a:r>
              <a:rPr kumimoji="1" lang="zh-CN" altLang="en-US" sz="2400" dirty="0"/>
              <a:t>，涉及到</a:t>
            </a:r>
            <a:r>
              <a:rPr kumimoji="1" lang="en-US" altLang="zh-CN" sz="2400" dirty="0"/>
              <a:t>fence</a:t>
            </a:r>
            <a:r>
              <a:rPr kumimoji="1" lang="zh-CN" altLang="en-US" sz="2400" dirty="0"/>
              <a:t>扩展等等指令集扩展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反正就是，你需要手动在合适的地方塞这些指令进去。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8" y="1023367"/>
            <a:ext cx="95103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3</a:t>
            </a:r>
            <a:r>
              <a:rPr kumimoji="1" lang="zh-CN" altLang="en-US" sz="2400" dirty="0"/>
              <a:t>、原子操作</a:t>
            </a:r>
            <a:endParaRPr kumimoji="1" lang="en-US" altLang="zh-CN" sz="2400" dirty="0"/>
          </a:p>
          <a:p>
            <a:r>
              <a:rPr kumimoji="1" lang="zh-CN" altLang="en-US" sz="2400" dirty="0"/>
              <a:t>原子操作顾名思义，就是让他有些操作是原子的，要么语义内的内容全都成功，要么失败。这是很多锁的基石。</a:t>
            </a:r>
            <a:endParaRPr kumimoji="1" lang="en-US" altLang="zh-CN" sz="2400" dirty="0"/>
          </a:p>
          <a:p>
            <a:r>
              <a:rPr kumimoji="1" lang="zh-CN" altLang="en-US" sz="2400" dirty="0"/>
              <a:t>（理论上写内核不用你自己干这事情，会有现成的封装，但是得了解一下）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现在常见的有那么几类原子操作：</a:t>
            </a:r>
            <a:endParaRPr kumimoji="1"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en-US" altLang="zh-CN" sz="2400" dirty="0"/>
              <a:t>load/store</a:t>
            </a:r>
            <a:r>
              <a:rPr kumimoji="1" lang="zh-CN" altLang="en-US" sz="2400" dirty="0"/>
              <a:t> 原子的读取写入</a:t>
            </a:r>
            <a:endParaRPr kumimoji="1"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en-US" altLang="zh-CN" sz="2400" dirty="0"/>
              <a:t>exchange</a:t>
            </a:r>
            <a:r>
              <a:rPr kumimoji="1" lang="zh-CN" altLang="en-US" sz="2400" dirty="0"/>
              <a:t>（也有叫</a:t>
            </a:r>
            <a:r>
              <a:rPr kumimoji="1" lang="en-US" altLang="zh-CN" sz="2400" dirty="0"/>
              <a:t>swap</a:t>
            </a:r>
            <a:r>
              <a:rPr kumimoji="1" lang="zh-CN" altLang="en-US" sz="2400" dirty="0"/>
              <a:t>的）交换两个内存中的值）</a:t>
            </a:r>
            <a:endParaRPr kumimoji="1"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en-US" altLang="zh-CN" sz="2400" dirty="0"/>
              <a:t>fetch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add/sub</a:t>
            </a:r>
            <a:r>
              <a:rPr kumimoji="1" lang="zh-CN" altLang="en-US" sz="2400" dirty="0"/>
              <a:t>（递增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减并返回原有的值）</a:t>
            </a:r>
            <a:endParaRPr kumimoji="1"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kumimoji="1" lang="en-US" altLang="zh-CN" sz="2400" dirty="0" err="1"/>
              <a:t>Compare_and_exchange</a:t>
            </a:r>
            <a:r>
              <a:rPr kumimoji="1" lang="zh-CN" altLang="en-US" sz="2400" dirty="0"/>
              <a:t>（比较，如果相等就交换，无论如何都返回原来的值，当然也有返回成功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失败版本的。）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8" y="1023367"/>
            <a:ext cx="72858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3</a:t>
            </a:r>
            <a:r>
              <a:rPr kumimoji="1" lang="zh-CN" altLang="en-US" sz="2400" dirty="0"/>
              <a:t>、原子操作</a:t>
            </a:r>
            <a:endParaRPr kumimoji="1" lang="en-US" altLang="zh-CN" sz="2400" dirty="0"/>
          </a:p>
          <a:p>
            <a:r>
              <a:rPr kumimoji="1" lang="zh-CN" altLang="en-US" sz="2400" dirty="0"/>
              <a:t>但是即便是有标准库，不等于标准库对所有架构的原子操作都有支持，这时候要么利用一些三方库（如右图的</a:t>
            </a:r>
            <a:r>
              <a:rPr kumimoji="1" lang="en-US" altLang="zh-CN" sz="2400" dirty="0"/>
              <a:t>portable-atomic</a:t>
            </a:r>
            <a:r>
              <a:rPr kumimoji="1" lang="zh-CN" altLang="en-US" sz="2400" dirty="0"/>
              <a:t>）要么自己搓（这在写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的时候还是比较常见的），究其根本，还是在于硬件架构支持的原子语义。</a:t>
            </a:r>
            <a:endParaRPr kumimoji="1" lang="en-US" altLang="zh-CN" sz="2400" dirty="0"/>
          </a:p>
          <a:p>
            <a:r>
              <a:rPr kumimoji="1" lang="zh-CN" altLang="en-US" sz="2400" dirty="0"/>
              <a:t>常见的原子操作实现手法是锁内存总线，或者锁缓存等一些方案。（但是有的架构他就不支持嘛）</a:t>
            </a:r>
            <a:endParaRPr kumimoji="1" lang="en-US" altLang="zh-CN" sz="2400" dirty="0"/>
          </a:p>
        </p:txBody>
      </p:sp>
      <p:pic>
        <p:nvPicPr>
          <p:cNvPr id="6" name="图片 5" descr="图形用户界面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85" y="673675"/>
            <a:ext cx="4330615" cy="5510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8" y="1023367"/>
            <a:ext cx="109522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3</a:t>
            </a:r>
            <a:r>
              <a:rPr kumimoji="1" lang="zh-CN" altLang="en-US" sz="2400" dirty="0"/>
              <a:t>、原子操作</a:t>
            </a:r>
            <a:endParaRPr kumimoji="1" lang="en-US" altLang="zh-CN" sz="2400" dirty="0"/>
          </a:p>
          <a:p>
            <a:r>
              <a:rPr kumimoji="1" lang="en-US" altLang="zh-CN" sz="2400" dirty="0"/>
              <a:t>X86</a:t>
            </a:r>
            <a:r>
              <a:rPr kumimoji="1" lang="zh-CN" altLang="en-US" sz="2400" dirty="0"/>
              <a:t>下的原子操作通常依赖于</a:t>
            </a:r>
            <a:r>
              <a:rPr kumimoji="1" lang="en-US" altLang="zh-CN" sz="2400" dirty="0"/>
              <a:t>lock</a:t>
            </a:r>
            <a:r>
              <a:rPr kumimoji="1" lang="zh-CN" altLang="en-US" sz="2400" dirty="0"/>
              <a:t>前缀，并且很多都有现成的指令（复杂指令集是这样的），例如</a:t>
            </a:r>
            <a:r>
              <a:rPr kumimoji="1" lang="zh-CN" altLang="en-GB" sz="2400" dirty="0"/>
              <a:t>一个</a:t>
            </a:r>
            <a:r>
              <a:rPr kumimoji="1" lang="zh-CN" altLang="en-US" sz="2400" dirty="0"/>
              <a:t>简单的</a:t>
            </a:r>
            <a:r>
              <a:rPr kumimoji="1" lang="en-US" altLang="zh-CN" sz="2400" dirty="0"/>
              <a:t>64</a:t>
            </a:r>
            <a:r>
              <a:rPr kumimoji="1" lang="zh-CN" altLang="en-US" sz="2400" dirty="0"/>
              <a:t>位的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下的</a:t>
            </a:r>
            <a:r>
              <a:rPr kumimoji="1" lang="en-US" altLang="zh-CN" sz="2400" dirty="0" err="1"/>
              <a:t>cas</a:t>
            </a:r>
            <a:r>
              <a:rPr kumimoji="1" lang="zh-CN" altLang="en-US" sz="2400" dirty="0"/>
              <a:t>就使用</a:t>
            </a:r>
            <a:r>
              <a:rPr kumimoji="1" lang="en-US" altLang="zh-CN" sz="2400" dirty="0" err="1"/>
              <a:t>cmpxchgq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AArch64</a:t>
            </a:r>
            <a:r>
              <a:rPr kumimoji="1" lang="zh-CN" altLang="en-US" sz="2400" dirty="0"/>
              <a:t>下，确实得看他支持的指令集，</a:t>
            </a:r>
            <a:r>
              <a:rPr kumimoji="1" lang="en-US" altLang="zh-CN" sz="2400" dirty="0"/>
              <a:t>Armv7</a:t>
            </a:r>
            <a:r>
              <a:rPr kumimoji="1" lang="zh-CN" altLang="en-US" sz="2400" dirty="0"/>
              <a:t>开始支持</a:t>
            </a:r>
            <a:r>
              <a:rPr kumimoji="1" lang="en-GB" altLang="zh-CN" sz="2400" dirty="0"/>
              <a:t>LDREXD/STREXD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v8</a:t>
            </a:r>
            <a:r>
              <a:rPr kumimoji="1" lang="zh-CN" altLang="en-US" sz="2400" dirty="0"/>
              <a:t>有</a:t>
            </a:r>
            <a:r>
              <a:rPr kumimoji="1" lang="en-GB" altLang="zh-CN" sz="2400" dirty="0"/>
              <a:t>LDXR/STXR</a:t>
            </a:r>
            <a:r>
              <a:rPr kumimoji="1" lang="zh-CN" altLang="en-US" sz="2400" dirty="0"/>
              <a:t>，</a:t>
            </a:r>
            <a:r>
              <a:rPr kumimoji="1" lang="en-GB" altLang="zh-CN" sz="2400" dirty="0"/>
              <a:t>ARMv8.1</a:t>
            </a:r>
            <a:r>
              <a:rPr kumimoji="1" lang="zh-CN" altLang="en-GB" sz="2400" dirty="0"/>
              <a:t>引入了</a:t>
            </a:r>
            <a:r>
              <a:rPr kumimoji="1" lang="en-GB" altLang="zh-CN" sz="2400" dirty="0"/>
              <a:t>LSE</a:t>
            </a:r>
            <a:r>
              <a:rPr kumimoji="1" lang="zh-CN" altLang="en-GB" sz="2400" dirty="0"/>
              <a:t>（</a:t>
            </a:r>
            <a:r>
              <a:rPr kumimoji="1" lang="en-GB" altLang="zh-CN" sz="2400" dirty="0"/>
              <a:t>Large System Extensions</a:t>
            </a:r>
            <a:r>
              <a:rPr kumimoji="1" lang="zh-CN" altLang="en-GB" sz="2400" dirty="0"/>
              <a:t>）</a:t>
            </a:r>
            <a:r>
              <a:rPr kumimoji="1" lang="zh-CN" altLang="en-US" sz="2400" dirty="0"/>
              <a:t>，基本就有很多现代常用处理器的原子操作支持，什么</a:t>
            </a:r>
            <a:r>
              <a:rPr kumimoji="1" lang="en-US" altLang="zh-CN" sz="2400" dirty="0"/>
              <a:t>CAS</a:t>
            </a:r>
            <a:r>
              <a:rPr kumimoji="1" lang="zh-CN" altLang="en-US" sz="2400" dirty="0"/>
              <a:t>之类的都有了。</a:t>
            </a:r>
            <a:endParaRPr kumimoji="1" lang="en-GB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RISC- V</a:t>
            </a:r>
            <a:r>
              <a:rPr kumimoji="1" lang="zh-CN" altLang="en-US" sz="2400" dirty="0"/>
              <a:t>具有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扩展，提供了较为丰富的原子操作，但是也有</a:t>
            </a:r>
            <a:r>
              <a:rPr kumimoji="1" lang="en-US" altLang="zh-CN" sz="2400" dirty="0" err="1"/>
              <a:t>lr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sc</a:t>
            </a:r>
            <a:r>
              <a:rPr kumimoji="1" lang="zh-CN" altLang="en-US" sz="2400" dirty="0"/>
              <a:t>操作</a:t>
            </a:r>
            <a:endParaRPr kumimoji="1" lang="en-US" altLang="zh-CN" sz="2400" dirty="0"/>
          </a:p>
        </p:txBody>
      </p:sp>
      <p:pic>
        <p:nvPicPr>
          <p:cNvPr id="7" name="图片 6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608" y="2593027"/>
            <a:ext cx="4293577" cy="1431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8" y="1023367"/>
            <a:ext cx="63304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</a:t>
            </a:r>
            <a:r>
              <a:rPr kumimoji="1" lang="en-US" altLang="zh-CN" sz="2400" dirty="0"/>
              <a:t>-</a:t>
            </a:r>
            <a:r>
              <a:rPr kumimoji="1" lang="zh-CN" altLang="en-US" sz="2400" dirty="0"/>
              <a:t>多核情况下：</a:t>
            </a:r>
            <a:endParaRPr kumimoji="1" lang="en-US" altLang="zh-CN" sz="2400" dirty="0"/>
          </a:p>
          <a:p>
            <a:r>
              <a:rPr kumimoji="1" lang="en-US" altLang="zh-CN" sz="2400" dirty="0"/>
              <a:t>3</a:t>
            </a:r>
            <a:r>
              <a:rPr kumimoji="1" lang="zh-CN" altLang="en-US" sz="2400" dirty="0"/>
              <a:t>、原子操作</a:t>
            </a:r>
            <a:endParaRPr kumimoji="1" lang="en-US" altLang="zh-CN" sz="2400" dirty="0"/>
          </a:p>
          <a:p>
            <a:r>
              <a:rPr kumimoji="1" lang="zh-CN" altLang="en-US" sz="2400" dirty="0"/>
              <a:t>右边下面是</a:t>
            </a:r>
            <a:r>
              <a:rPr kumimoji="1" lang="en-US" altLang="zh-CN" sz="2400" dirty="0"/>
              <a:t>arm</a:t>
            </a:r>
            <a:r>
              <a:rPr kumimoji="1" lang="zh-CN" altLang="en-US" sz="2400" dirty="0"/>
              <a:t>下使用</a:t>
            </a:r>
            <a:r>
              <a:rPr kumimoji="1" lang="en-US" altLang="zh-CN" sz="2400" dirty="0" err="1"/>
              <a:t>ldxr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stxr</a:t>
            </a:r>
            <a:r>
              <a:rPr kumimoji="1" lang="zh-CN" altLang="en-US" sz="2400" dirty="0"/>
              <a:t>指令的</a:t>
            </a:r>
            <a:r>
              <a:rPr kumimoji="1" lang="en-US" altLang="zh-CN" sz="2400" dirty="0" err="1"/>
              <a:t>cas</a:t>
            </a:r>
            <a:r>
              <a:rPr kumimoji="1" lang="zh-CN" altLang="en-US" sz="2400" dirty="0"/>
              <a:t>实现，上面是</a:t>
            </a:r>
            <a:r>
              <a:rPr kumimoji="1" lang="en-US" altLang="zh-CN" sz="2400" dirty="0"/>
              <a:t>RISC-V</a:t>
            </a:r>
            <a:r>
              <a:rPr kumimoji="1" lang="zh-CN" altLang="en-US" sz="2400" dirty="0"/>
              <a:t>的</a:t>
            </a:r>
            <a:r>
              <a:rPr kumimoji="1" lang="en-US" altLang="zh-CN" sz="2400" dirty="0" err="1"/>
              <a:t>lr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sc</a:t>
            </a:r>
            <a:r>
              <a:rPr kumimoji="1" lang="zh-CN" altLang="en-US" sz="2400" dirty="0"/>
              <a:t>实现，长得比较相似，所以也可以拿来比较一下。</a:t>
            </a:r>
            <a:endParaRPr kumimoji="1" lang="en-US" altLang="zh-CN" sz="2400" dirty="0"/>
          </a:p>
          <a:p>
            <a:r>
              <a:rPr kumimoji="1" lang="zh-CN" altLang="en-US" sz="2400" dirty="0"/>
              <a:t>整套代码的含义，按照基本的</a:t>
            </a:r>
            <a:r>
              <a:rPr kumimoji="1" lang="en-US" altLang="zh-CN" sz="2400" dirty="0" err="1"/>
              <a:t>cas</a:t>
            </a:r>
            <a:r>
              <a:rPr kumimoji="1" lang="zh-CN" altLang="en-US" sz="2400" dirty="0"/>
              <a:t>语义，就是从内存中加载内容（这里面的</a:t>
            </a:r>
            <a:r>
              <a:rPr kumimoji="1" lang="en-US" altLang="zh-CN" sz="2400" dirty="0" err="1"/>
              <a:t>addr</a:t>
            </a:r>
            <a:r>
              <a:rPr kumimoji="1" lang="zh-CN" altLang="en-US" sz="2400" dirty="0"/>
              <a:t>）到某个寄存器（</a:t>
            </a:r>
            <a:r>
              <a:rPr kumimoji="1" lang="en-US" altLang="zh-CN" sz="2400" dirty="0" err="1"/>
              <a:t>oldval</a:t>
            </a:r>
            <a:r>
              <a:rPr kumimoji="1" lang="zh-CN" altLang="en-US" sz="2400" dirty="0"/>
              <a:t>虽然是个栈上的值但是实际上会放在寄存器上），然后跟另一个寄存器（</a:t>
            </a:r>
            <a:r>
              <a:rPr kumimoji="1" lang="en-US" altLang="zh-CN" sz="2400" dirty="0"/>
              <a:t>expected</a:t>
            </a:r>
            <a:r>
              <a:rPr kumimoji="1" lang="zh-CN" altLang="en-US" sz="2400" dirty="0"/>
              <a:t>）去比较，相等写入</a:t>
            </a:r>
            <a:r>
              <a:rPr kumimoji="1" lang="en-US" altLang="zh-CN" sz="2400" dirty="0" err="1"/>
              <a:t>newval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r>
              <a:rPr kumimoji="1" lang="zh-CN" altLang="en-US" sz="2400" dirty="0"/>
              <a:t>为了原子性，这两个架构下都实现了一种标记，</a:t>
            </a:r>
            <a:r>
              <a:rPr kumimoji="1" lang="en-US" altLang="zh-CN" sz="2400" dirty="0" err="1"/>
              <a:t>ldxr</a:t>
            </a:r>
            <a:r>
              <a:rPr kumimoji="1" lang="zh-CN" altLang="en-US" sz="2400" dirty="0"/>
              <a:t>就打上标记，</a:t>
            </a:r>
            <a:r>
              <a:rPr kumimoji="1" lang="en-US" altLang="zh-CN" sz="2400" dirty="0" err="1"/>
              <a:t>stxr</a:t>
            </a:r>
            <a:r>
              <a:rPr kumimoji="1" lang="zh-CN" altLang="en-US" sz="2400" dirty="0"/>
              <a:t>就需要检查这个标记，如果已经被清理，说明有人改了，就失败，失败则需要重试</a:t>
            </a:r>
            <a:endParaRPr kumimoji="1" lang="en-US" altLang="zh-CN" sz="2400" dirty="0"/>
          </a:p>
          <a:p>
            <a:r>
              <a:rPr kumimoji="1" lang="zh-CN" altLang="en-US" sz="2400" dirty="0"/>
              <a:t>注：</a:t>
            </a:r>
            <a:r>
              <a:rPr kumimoji="1" lang="en-US" altLang="zh-CN" sz="2400" dirty="0" err="1"/>
              <a:t>ldaxr</a:t>
            </a:r>
            <a:r>
              <a:rPr kumimoji="1" lang="zh-CN" altLang="en-US" sz="2400" dirty="0"/>
              <a:t>和</a:t>
            </a:r>
            <a:r>
              <a:rPr kumimoji="1" lang="en-US" altLang="zh-CN" sz="2400" dirty="0" err="1"/>
              <a:t>stlxr</a:t>
            </a:r>
            <a:r>
              <a:rPr kumimoji="1" lang="zh-CN" altLang="en-US" sz="2400" dirty="0"/>
              <a:t>的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l</a:t>
            </a:r>
            <a:r>
              <a:rPr kumimoji="1" lang="zh-CN" altLang="en-US" sz="2400" dirty="0"/>
              <a:t>相当于内存屏障</a:t>
            </a:r>
            <a:endParaRPr kumimoji="1" lang="en-US" altLang="zh-CN" sz="2400" dirty="0"/>
          </a:p>
        </p:txBody>
      </p:sp>
      <p:pic>
        <p:nvPicPr>
          <p:cNvPr id="6" name="图片 5" descr="日程表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4507" y="3178019"/>
            <a:ext cx="4632570" cy="3160075"/>
          </a:xfrm>
          <a:prstGeom prst="rect">
            <a:avLst/>
          </a:prstGeom>
        </p:spPr>
      </p:pic>
      <p:pic>
        <p:nvPicPr>
          <p:cNvPr id="9" name="图片 8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462" y="281354"/>
            <a:ext cx="5417903" cy="25739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8" y="1023367"/>
            <a:ext cx="109522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并发性：</a:t>
            </a:r>
            <a:endParaRPr kumimoji="1" lang="en-US" altLang="zh-CN" sz="2400" dirty="0"/>
          </a:p>
          <a:p>
            <a:r>
              <a:rPr kumimoji="1" lang="en-US" altLang="zh-CN" sz="2400" dirty="0"/>
              <a:t>4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内核中如何处理</a:t>
            </a:r>
            <a:endParaRPr kumimoji="1" lang="en-US" altLang="zh-CN" sz="2400" dirty="0"/>
          </a:p>
          <a:p>
            <a:r>
              <a:rPr kumimoji="1" lang="zh-CN" altLang="en-US" sz="2400" dirty="0"/>
              <a:t>如果是单核的内核中，锁是一种方式，但是其实关调度就行了。当然如果在用户态申请一块共享内存等方式需要同步，自行管理。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多核：</a:t>
            </a:r>
            <a:endParaRPr kumimoji="1" lang="en-US" altLang="zh-CN" sz="2400" dirty="0"/>
          </a:p>
          <a:p>
            <a:r>
              <a:rPr kumimoji="1" lang="en-US" altLang="zh-CN" sz="2400" dirty="0" err="1"/>
              <a:t>percpu</a:t>
            </a:r>
            <a:r>
              <a:rPr kumimoji="1" lang="zh-CN" altLang="en-US" sz="2400" dirty="0"/>
              <a:t>机制：划定好一块区域是某个</a:t>
            </a:r>
            <a:r>
              <a:rPr kumimoji="1" lang="en-US" altLang="zh-CN" sz="2400" dirty="0" err="1"/>
              <a:t>cpu</a:t>
            </a:r>
            <a:r>
              <a:rPr kumimoji="1" lang="zh-CN" altLang="en-US" sz="2400" dirty="0"/>
              <a:t>专门自己用的，其他</a:t>
            </a:r>
            <a:r>
              <a:rPr kumimoji="1" lang="en-US" altLang="zh-CN" sz="2400" dirty="0" err="1"/>
              <a:t>cpu</a:t>
            </a:r>
            <a:r>
              <a:rPr kumimoji="1" lang="zh-CN" altLang="en-US" sz="2400" dirty="0"/>
              <a:t>管不着，那就没那么多同步管理的破事。</a:t>
            </a:r>
            <a:endParaRPr kumimoji="1" lang="en-US" altLang="zh-CN" sz="2400" dirty="0"/>
          </a:p>
          <a:p>
            <a:r>
              <a:rPr kumimoji="1" lang="zh-CN" altLang="en-US" sz="2400" dirty="0"/>
              <a:t>各类锁（等第三节课让邵老师介绍吧）</a:t>
            </a:r>
            <a:endParaRPr kumimoji="1" lang="en-US" altLang="zh-CN" sz="2400" dirty="0"/>
          </a:p>
          <a:p>
            <a:r>
              <a:rPr kumimoji="1" lang="zh-CN" altLang="en-US" sz="2400" dirty="0"/>
              <a:t>无锁机制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自组织自管理性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这个事情其实很好解释，鸡生蛋还是蛋生鸡问题。</a:t>
            </a:r>
            <a:endParaRPr kumimoji="1" lang="en-US" altLang="zh-CN" sz="2400" dirty="0"/>
          </a:p>
          <a:p>
            <a:r>
              <a:rPr kumimoji="1" lang="zh-CN" altLang="en-US" sz="2400" dirty="0"/>
              <a:t>所有的应用依赖于库和内核，库也依赖于内核，但是内核依赖谁？</a:t>
            </a:r>
            <a:endParaRPr kumimoji="1" lang="en-US" altLang="zh-CN" sz="2400" dirty="0"/>
          </a:p>
          <a:p>
            <a:r>
              <a:rPr kumimoji="1" lang="zh-CN" altLang="en-US" sz="2400" dirty="0"/>
              <a:t>内核依赖他自己啊！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让我们来看两个例子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自组织自管理性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例子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、在刚刚启动的时候，通常需要一个内存分配器，但是构造内存分配器，他的结构体需要分配一块内存，然而只有先有了内存分配器，我才能分配一块内存。这就很矛盾了。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常见的解决办法：自举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先给定一块静态内存，然后在他上面构造了一个早期分配器之后，再将内容迁移到真正的内存分配器上。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（虽然写个玩具的话，直接给一块静态内存用用也其实没毛病）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自组织自管理性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例子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、作为内存管理的页表本身也需要占用一定页面，所以如果我想申请一个页面，可能会导致管理页面的页表也要申请页面。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比赛中我见到比较多的方法是直接一开始硬生生写死个页表，把所有物理内存都映射进去，然后一一分配，当然也有别的随着需求动态分配的方案。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框架性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这一点主要是针对于成熟的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内核而言的。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一个我认为对于内核开发者很重要的思想在于：</a:t>
            </a:r>
            <a:endParaRPr kumimoji="1" lang="en-US" altLang="zh-CN" sz="2400" dirty="0"/>
          </a:p>
          <a:p>
            <a:r>
              <a:rPr kumimoji="1" lang="zh-CN" altLang="en-US" sz="2400" dirty="0"/>
              <a:t>内核设计不仅仅是提供给上层的用户的，也是提供给底下提供支撑的驱动开发者的。</a:t>
            </a:r>
            <a:endParaRPr kumimoji="1" lang="en-US" altLang="zh-CN" sz="2400" dirty="0"/>
          </a:p>
          <a:p>
            <a:r>
              <a:rPr kumimoji="1" lang="en-US" altLang="zh-CN" sz="2400" dirty="0"/>
              <a:t>Linux</a:t>
            </a:r>
            <a:r>
              <a:rPr kumimoji="1" lang="zh-CN" altLang="en-US" sz="2400" dirty="0"/>
              <a:t>内核庞大和难以取代的一个重要原因就是，没谁那么闲去给这么多开发板和机器提供驱动。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用户和内核的交互界面主要是用</a:t>
            </a:r>
            <a:r>
              <a:rPr kumimoji="1" lang="en-US" altLang="zh-CN" sz="2400" dirty="0" err="1"/>
              <a:t>syscall</a:t>
            </a:r>
            <a:r>
              <a:rPr kumimoji="1" lang="zh-CN" altLang="en-US" sz="2400" dirty="0"/>
              <a:t>来表示，但是如果你要实现一个内核，能否给驱动开发者提供一个良好的驱动框架，同样事关这个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内核是否能够成功（尽管这比较遥远）。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防御性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内核代码需要防御谁？</a:t>
            </a:r>
            <a:endParaRPr kumimoji="1" lang="en-US" altLang="zh-CN" sz="2400" dirty="0"/>
          </a:p>
          <a:p>
            <a:r>
              <a:rPr kumimoji="1" lang="zh-CN" altLang="en-US" sz="2400" dirty="0"/>
              <a:t>用户啊。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写内核的时候，除了需要总是谨小慎微，担心其他的执行流改动当前执行流的数据（即考虑并发性，虽然那也需要一种防御性的编程）之外，还需要考虑，用户他不可靠。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用户跟内核交互主要通过</a:t>
            </a:r>
            <a:r>
              <a:rPr kumimoji="1" lang="en-US" altLang="zh-CN" sz="2400" dirty="0" err="1"/>
              <a:t>syscall</a:t>
            </a:r>
            <a:r>
              <a:rPr kumimoji="1" lang="zh-CN" altLang="en-US" sz="2400" dirty="0"/>
              <a:t>。但是用户可能会传入各种不可靠的</a:t>
            </a:r>
            <a:r>
              <a:rPr kumimoji="1" lang="en-US" altLang="zh-CN" sz="2400" dirty="0" err="1"/>
              <a:t>syscall</a:t>
            </a:r>
            <a:r>
              <a:rPr kumimoji="1" lang="zh-CN" altLang="en-US" sz="2400" dirty="0"/>
              <a:t>参数组合。如果不加以防御而只是盯着功能实现与否，总是假定用户给的参数是对的需要走成功路径，那这个内核跟咸鱼有什么差别？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0999" y="281354"/>
            <a:ext cx="10952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一些基本的</a:t>
            </a:r>
            <a:r>
              <a:rPr kumimoji="1" lang="en-US" altLang="zh-CN" sz="3200" dirty="0"/>
              <a:t>OS</a:t>
            </a:r>
            <a:r>
              <a:rPr kumimoji="1" lang="zh-CN" altLang="en-US" sz="3200" dirty="0"/>
              <a:t>的介绍</a:t>
            </a:r>
            <a:endParaRPr kumimoji="1" lang="en-US" altLang="zh-CN" sz="3200" dirty="0"/>
          </a:p>
        </p:txBody>
      </p:sp>
      <p:cxnSp>
        <p:nvCxnSpPr>
          <p:cNvPr id="2" name="直线连接符 1"/>
          <p:cNvCxnSpPr/>
          <p:nvPr/>
        </p:nvCxnSpPr>
        <p:spPr>
          <a:xfrm>
            <a:off x="381000" y="879404"/>
            <a:ext cx="10794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80999" y="1023367"/>
            <a:ext cx="109522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防御性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内核代码还需要防御谁？</a:t>
            </a:r>
            <a:endParaRPr kumimoji="1" lang="en-US" altLang="zh-CN" sz="2400" dirty="0"/>
          </a:p>
          <a:p>
            <a:r>
              <a:rPr kumimoji="1" lang="zh-CN" altLang="en-US" sz="2400" dirty="0"/>
              <a:t>内核代码自己啊。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作为一个内核开发者，写</a:t>
            </a:r>
            <a:r>
              <a:rPr kumimoji="1" lang="en-US" altLang="zh-CN" sz="2400" dirty="0"/>
              <a:t>bug</a:t>
            </a:r>
            <a:r>
              <a:rPr kumimoji="1" lang="zh-CN" altLang="en-US" sz="2400" dirty="0"/>
              <a:t>是很正常的事情，但是一个健壮的内核，最起码，可以在内核代码中，做一些基本的检查，以防止殃及池鱼，本身自己写的代码也要注意好各种错误处理等等，更关键的是能够传递出来一些垂死挣扎的</a:t>
            </a:r>
            <a:r>
              <a:rPr kumimoji="1" lang="en-US" altLang="zh-CN" sz="2400" dirty="0"/>
              <a:t>log</a:t>
            </a:r>
            <a:r>
              <a:rPr kumimoji="1" lang="zh-CN" altLang="en-US" sz="2400" dirty="0"/>
              <a:t>信息以供拯救。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最关键的点在于，跟用户态有完善的调试方案不同，在内核，万一内核</a:t>
            </a:r>
            <a:r>
              <a:rPr kumimoji="1" lang="en-US" altLang="zh-CN" sz="2400" dirty="0"/>
              <a:t>down</a:t>
            </a:r>
            <a:r>
              <a:rPr kumimoji="1" lang="zh-CN" altLang="en-US" sz="2400" dirty="0"/>
              <a:t>掉了，有时候真的死都不知道怎么死的。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272433" y="2967335"/>
            <a:ext cx="3647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谢谢大家！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5106</Words>
  <Application>WPS 演示</Application>
  <PresentationFormat>宽屏</PresentationFormat>
  <Paragraphs>370</Paragraphs>
  <Slides>27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var(--ds-font-family-code)</vt:lpstr>
      <vt:lpstr>Thonburi</vt:lpstr>
      <vt:lpstr>Calibri</vt:lpstr>
      <vt:lpstr>Helvetica Neue</vt:lpstr>
      <vt:lpstr>汉仪书宋二KW</vt:lpstr>
      <vt:lpstr>var(--ds-font-family-code)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蓝天</cp:lastModifiedBy>
  <cp:revision>129</cp:revision>
  <dcterms:created xsi:type="dcterms:W3CDTF">2026-03-16T10:34:10Z</dcterms:created>
  <dcterms:modified xsi:type="dcterms:W3CDTF">2026-03-16T10:34:10Z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5EDC7F226C4AA6FCA2DCB7698ABA0050_43</vt:lpwstr>
  </property>
  <property fmtid="{D5CDD505-2E9C-101B-9397-08002B2CF9AE}" pid="3" name="KSOProductBuildVer">
    <vt:lpwstr>2052-7.5.1.8994</vt:lpwstr>
  </property>
</Properties>
</file>